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Quantico"/>
      <p:regular r:id="rId20"/>
      <p:bold r:id="rId21"/>
      <p:italic r:id="rId22"/>
      <p:boldItalic r:id="rId23"/>
    </p:embeddedFont>
    <p:embeddedFont>
      <p:font typeface="Raleway"/>
      <p:regular r:id="rId24"/>
      <p:bold r:id="rId25"/>
      <p:italic r:id="rId26"/>
      <p:boldItalic r:id="rId27"/>
    </p:embeddedFont>
    <p:embeddedFont>
      <p:font typeface="La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Quantico-regular.fntdata"/><Relationship Id="rId22" Type="http://schemas.openxmlformats.org/officeDocument/2006/relationships/font" Target="fonts/Quantico-italic.fntdata"/><Relationship Id="rId21" Type="http://schemas.openxmlformats.org/officeDocument/2006/relationships/font" Target="fonts/Quantico-bold.fntdata"/><Relationship Id="rId24" Type="http://schemas.openxmlformats.org/officeDocument/2006/relationships/font" Target="fonts/Raleway-regular.fntdata"/><Relationship Id="rId23" Type="http://schemas.openxmlformats.org/officeDocument/2006/relationships/font" Target="fonts/Quantic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aleway-italic.fntdata"/><Relationship Id="rId25" Type="http://schemas.openxmlformats.org/officeDocument/2006/relationships/font" Target="fonts/Raleway-bold.fntdata"/><Relationship Id="rId28" Type="http://schemas.openxmlformats.org/officeDocument/2006/relationships/font" Target="fonts/Lato-regular.fntdata"/><Relationship Id="rId27" Type="http://schemas.openxmlformats.org/officeDocument/2006/relationships/font" Target="fonts/Raleway-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boldItalic.fntdata"/><Relationship Id="rId30"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9d407eca1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9d407eca1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9d407eca15_0_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9d407eca15_0_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9d407eca15_0_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9d407eca15_0_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9d407eca15_0_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9d407eca15_0_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9d407eca15_0_5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9d407eca15_0_5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9d407eca15_0_5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9d407eca15_0_5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9d407eca15_0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9d407eca15_0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9d407eca15_0_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9d407eca15_0_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9d407eca15_0_5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9d407eca15_0_5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9d407eca15_0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9d407eca15_0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9d407eca15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9d407eca15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9d407eca15_0_5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9d407eca15_0_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9d407eca15_0_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9d407eca15_0_5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9d407eca15_0_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9d407eca15_0_5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BLANK_16_1_1">
    <p:bg>
      <p:bgPr>
        <a:solidFill>
          <a:schemeClr val="lt2"/>
        </a:solidFill>
      </p:bgPr>
    </p:bg>
    <p:spTree>
      <p:nvGrpSpPr>
        <p:cNvPr id="82" name="Shape 82"/>
        <p:cNvGrpSpPr/>
        <p:nvPr/>
      </p:nvGrpSpPr>
      <p:grpSpPr>
        <a:xfrm>
          <a:off x="0" y="0"/>
          <a:ext cx="0" cy="0"/>
          <a:chOff x="0" y="0"/>
          <a:chExt cx="0" cy="0"/>
        </a:xfrm>
      </p:grpSpPr>
      <p:sp>
        <p:nvSpPr>
          <p:cNvPr id="83" name="Google Shape;83;p13"/>
          <p:cNvSpPr/>
          <p:nvPr/>
        </p:nvSpPr>
        <p:spPr>
          <a:xfrm>
            <a:off x="0" y="0"/>
            <a:ext cx="54402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84" name="Google Shape;84;p13"/>
          <p:cNvSpPr/>
          <p:nvPr/>
        </p:nvSpPr>
        <p:spPr>
          <a:xfrm>
            <a:off x="5440200" y="555250"/>
            <a:ext cx="3703800" cy="45882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85" name="Google Shape;85;p13"/>
          <p:cNvSpPr/>
          <p:nvPr/>
        </p:nvSpPr>
        <p:spPr>
          <a:xfrm>
            <a:off x="636875" y="563400"/>
            <a:ext cx="4803000" cy="4588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86" name="Google Shape;86;p13"/>
          <p:cNvSpPr txBox="1"/>
          <p:nvPr>
            <p:ph type="title"/>
          </p:nvPr>
        </p:nvSpPr>
        <p:spPr>
          <a:xfrm>
            <a:off x="876900" y="874250"/>
            <a:ext cx="4387500" cy="26325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SzPts val="3000"/>
              <a:buNone/>
              <a:defRPr sz="7500"/>
            </a:lvl1pPr>
            <a:lvl2pPr lvl="1">
              <a:lnSpc>
                <a:spcPct val="80000"/>
              </a:lnSpc>
              <a:spcBef>
                <a:spcPts val="0"/>
              </a:spcBef>
              <a:spcAft>
                <a:spcPts val="0"/>
              </a:spcAft>
              <a:buSzPts val="3000"/>
              <a:buNone/>
              <a:defRPr sz="7500">
                <a:latin typeface="Quantico"/>
                <a:ea typeface="Quantico"/>
                <a:cs typeface="Quantico"/>
                <a:sym typeface="Quantico"/>
              </a:defRPr>
            </a:lvl2pPr>
            <a:lvl3pPr lvl="2">
              <a:lnSpc>
                <a:spcPct val="80000"/>
              </a:lnSpc>
              <a:spcBef>
                <a:spcPts val="0"/>
              </a:spcBef>
              <a:spcAft>
                <a:spcPts val="0"/>
              </a:spcAft>
              <a:buSzPts val="3000"/>
              <a:buNone/>
              <a:defRPr sz="7500">
                <a:latin typeface="Quantico"/>
                <a:ea typeface="Quantico"/>
                <a:cs typeface="Quantico"/>
                <a:sym typeface="Quantico"/>
              </a:defRPr>
            </a:lvl3pPr>
            <a:lvl4pPr lvl="3">
              <a:lnSpc>
                <a:spcPct val="80000"/>
              </a:lnSpc>
              <a:spcBef>
                <a:spcPts val="0"/>
              </a:spcBef>
              <a:spcAft>
                <a:spcPts val="0"/>
              </a:spcAft>
              <a:buSzPts val="3000"/>
              <a:buNone/>
              <a:defRPr sz="7500">
                <a:latin typeface="Quantico"/>
                <a:ea typeface="Quantico"/>
                <a:cs typeface="Quantico"/>
                <a:sym typeface="Quantico"/>
              </a:defRPr>
            </a:lvl4pPr>
            <a:lvl5pPr lvl="4">
              <a:lnSpc>
                <a:spcPct val="80000"/>
              </a:lnSpc>
              <a:spcBef>
                <a:spcPts val="0"/>
              </a:spcBef>
              <a:spcAft>
                <a:spcPts val="0"/>
              </a:spcAft>
              <a:buSzPts val="3000"/>
              <a:buNone/>
              <a:defRPr sz="7500">
                <a:latin typeface="Quantico"/>
                <a:ea typeface="Quantico"/>
                <a:cs typeface="Quantico"/>
                <a:sym typeface="Quantico"/>
              </a:defRPr>
            </a:lvl5pPr>
            <a:lvl6pPr lvl="5">
              <a:lnSpc>
                <a:spcPct val="80000"/>
              </a:lnSpc>
              <a:spcBef>
                <a:spcPts val="0"/>
              </a:spcBef>
              <a:spcAft>
                <a:spcPts val="0"/>
              </a:spcAft>
              <a:buSzPts val="3000"/>
              <a:buNone/>
              <a:defRPr sz="7500">
                <a:latin typeface="Quantico"/>
                <a:ea typeface="Quantico"/>
                <a:cs typeface="Quantico"/>
                <a:sym typeface="Quantico"/>
              </a:defRPr>
            </a:lvl6pPr>
            <a:lvl7pPr lvl="6">
              <a:lnSpc>
                <a:spcPct val="80000"/>
              </a:lnSpc>
              <a:spcBef>
                <a:spcPts val="0"/>
              </a:spcBef>
              <a:spcAft>
                <a:spcPts val="0"/>
              </a:spcAft>
              <a:buSzPts val="3000"/>
              <a:buNone/>
              <a:defRPr sz="7500">
                <a:latin typeface="Quantico"/>
                <a:ea typeface="Quantico"/>
                <a:cs typeface="Quantico"/>
                <a:sym typeface="Quantico"/>
              </a:defRPr>
            </a:lvl7pPr>
            <a:lvl8pPr lvl="7">
              <a:lnSpc>
                <a:spcPct val="80000"/>
              </a:lnSpc>
              <a:spcBef>
                <a:spcPts val="0"/>
              </a:spcBef>
              <a:spcAft>
                <a:spcPts val="0"/>
              </a:spcAft>
              <a:buSzPts val="3000"/>
              <a:buNone/>
              <a:defRPr sz="7500">
                <a:latin typeface="Quantico"/>
                <a:ea typeface="Quantico"/>
                <a:cs typeface="Quantico"/>
                <a:sym typeface="Quantico"/>
              </a:defRPr>
            </a:lvl8pPr>
            <a:lvl9pPr lvl="8">
              <a:lnSpc>
                <a:spcPct val="80000"/>
              </a:lnSpc>
              <a:spcBef>
                <a:spcPts val="0"/>
              </a:spcBef>
              <a:spcAft>
                <a:spcPts val="0"/>
              </a:spcAft>
              <a:buSzPts val="3000"/>
              <a:buNone/>
              <a:defRPr sz="7500">
                <a:latin typeface="Quantico"/>
                <a:ea typeface="Quantico"/>
                <a:cs typeface="Quantico"/>
                <a:sym typeface="Quantico"/>
              </a:defRPr>
            </a:lvl9pPr>
          </a:lstStyle>
          <a:p/>
        </p:txBody>
      </p:sp>
      <p:sp>
        <p:nvSpPr>
          <p:cNvPr id="87" name="Google Shape;87;p13"/>
          <p:cNvSpPr txBox="1"/>
          <p:nvPr>
            <p:ph idx="1" type="subTitle"/>
          </p:nvPr>
        </p:nvSpPr>
        <p:spPr>
          <a:xfrm>
            <a:off x="958450" y="4298625"/>
            <a:ext cx="2008500" cy="452700"/>
          </a:xfrm>
          <a:prstGeom prst="rect">
            <a:avLst/>
          </a:prstGeom>
        </p:spPr>
        <p:txBody>
          <a:bodyPr anchorCtr="0" anchor="t" bIns="91425" lIns="91425" spcFirstLastPara="1" rIns="91425" wrap="square" tIns="91425">
            <a:normAutofit/>
          </a:bodyPr>
          <a:lstStyle>
            <a:lvl1pPr lvl="0">
              <a:lnSpc>
                <a:spcPct val="115000"/>
              </a:lnSpc>
              <a:spcBef>
                <a:spcPts val="0"/>
              </a:spcBef>
              <a:spcAft>
                <a:spcPts val="0"/>
              </a:spcAft>
              <a:buClr>
                <a:schemeClr val="dk1"/>
              </a:buClr>
              <a:buSzPts val="1100"/>
              <a:buNone/>
              <a:defRPr>
                <a:solidFill>
                  <a:schemeClr val="dk1"/>
                </a:solidFill>
              </a:defRPr>
            </a:lvl1pPr>
            <a:lvl2pPr lvl="1">
              <a:lnSpc>
                <a:spcPct val="115000"/>
              </a:lnSpc>
              <a:spcBef>
                <a:spcPts val="0"/>
              </a:spcBef>
              <a:spcAft>
                <a:spcPts val="0"/>
              </a:spcAft>
              <a:buClr>
                <a:schemeClr val="dk1"/>
              </a:buClr>
              <a:buSzPts val="1100"/>
              <a:buNone/>
              <a:defRPr>
                <a:solidFill>
                  <a:schemeClr val="dk1"/>
                </a:solidFill>
              </a:defRPr>
            </a:lvl2pPr>
            <a:lvl3pPr lvl="2">
              <a:lnSpc>
                <a:spcPct val="115000"/>
              </a:lnSpc>
              <a:spcBef>
                <a:spcPts val="0"/>
              </a:spcBef>
              <a:spcAft>
                <a:spcPts val="0"/>
              </a:spcAft>
              <a:buClr>
                <a:schemeClr val="dk1"/>
              </a:buClr>
              <a:buSzPts val="1100"/>
              <a:buNone/>
              <a:defRPr>
                <a:solidFill>
                  <a:schemeClr val="dk1"/>
                </a:solidFill>
              </a:defRPr>
            </a:lvl3pPr>
            <a:lvl4pPr lvl="3">
              <a:lnSpc>
                <a:spcPct val="115000"/>
              </a:lnSpc>
              <a:spcBef>
                <a:spcPts val="0"/>
              </a:spcBef>
              <a:spcAft>
                <a:spcPts val="0"/>
              </a:spcAft>
              <a:buClr>
                <a:schemeClr val="dk1"/>
              </a:buClr>
              <a:buSzPts val="1100"/>
              <a:buNone/>
              <a:defRPr>
                <a:solidFill>
                  <a:schemeClr val="dk1"/>
                </a:solidFill>
              </a:defRPr>
            </a:lvl4pPr>
            <a:lvl5pPr lvl="4">
              <a:lnSpc>
                <a:spcPct val="115000"/>
              </a:lnSpc>
              <a:spcBef>
                <a:spcPts val="0"/>
              </a:spcBef>
              <a:spcAft>
                <a:spcPts val="0"/>
              </a:spcAft>
              <a:buClr>
                <a:schemeClr val="dk1"/>
              </a:buClr>
              <a:buSzPts val="1100"/>
              <a:buNone/>
              <a:defRPr>
                <a:solidFill>
                  <a:schemeClr val="dk1"/>
                </a:solidFill>
              </a:defRPr>
            </a:lvl5pPr>
            <a:lvl6pPr lvl="5">
              <a:lnSpc>
                <a:spcPct val="115000"/>
              </a:lnSpc>
              <a:spcBef>
                <a:spcPts val="0"/>
              </a:spcBef>
              <a:spcAft>
                <a:spcPts val="0"/>
              </a:spcAft>
              <a:buClr>
                <a:schemeClr val="dk1"/>
              </a:buClr>
              <a:buSzPts val="1100"/>
              <a:buNone/>
              <a:defRPr>
                <a:solidFill>
                  <a:schemeClr val="dk1"/>
                </a:solidFill>
              </a:defRPr>
            </a:lvl6pPr>
            <a:lvl7pPr lvl="6">
              <a:lnSpc>
                <a:spcPct val="115000"/>
              </a:lnSpc>
              <a:spcBef>
                <a:spcPts val="0"/>
              </a:spcBef>
              <a:spcAft>
                <a:spcPts val="0"/>
              </a:spcAft>
              <a:buClr>
                <a:schemeClr val="dk1"/>
              </a:buClr>
              <a:buSzPts val="1100"/>
              <a:buNone/>
              <a:defRPr>
                <a:solidFill>
                  <a:schemeClr val="dk1"/>
                </a:solidFill>
              </a:defRPr>
            </a:lvl7pPr>
            <a:lvl8pPr lvl="7">
              <a:lnSpc>
                <a:spcPct val="115000"/>
              </a:lnSpc>
              <a:spcBef>
                <a:spcPts val="0"/>
              </a:spcBef>
              <a:spcAft>
                <a:spcPts val="0"/>
              </a:spcAft>
              <a:buClr>
                <a:schemeClr val="dk1"/>
              </a:buClr>
              <a:buSzPts val="1100"/>
              <a:buNone/>
              <a:defRPr>
                <a:solidFill>
                  <a:schemeClr val="dk1"/>
                </a:solidFill>
              </a:defRPr>
            </a:lvl8pPr>
            <a:lvl9pPr lvl="8">
              <a:lnSpc>
                <a:spcPct val="115000"/>
              </a:lnSpc>
              <a:spcBef>
                <a:spcPts val="0"/>
              </a:spcBef>
              <a:spcAft>
                <a:spcPts val="0"/>
              </a:spcAft>
              <a:buClr>
                <a:schemeClr val="dk1"/>
              </a:buClr>
              <a:buSzPts val="1100"/>
              <a:buNone/>
              <a:defRPr>
                <a:solidFill>
                  <a:schemeClr val="dk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mailto:castonln@mail.uc.edu"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mailto:bhidehk@ucmail.uc.edu"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idx="1" type="subTitle"/>
          </p:nvPr>
        </p:nvSpPr>
        <p:spPr>
          <a:xfrm>
            <a:off x="958450" y="4298625"/>
            <a:ext cx="2008500" cy="452700"/>
          </a:xfrm>
          <a:prstGeom prst="rect">
            <a:avLst/>
          </a:prstGeom>
        </p:spPr>
        <p:txBody>
          <a:bodyPr anchorCtr="0" anchor="t" bIns="91425" lIns="91425" spcFirstLastPara="1" rIns="91425" wrap="square" tIns="91425">
            <a:normAutofit fontScale="25000" lnSpcReduction="20000"/>
          </a:bodyPr>
          <a:lstStyle/>
          <a:p>
            <a:pPr indent="0" lvl="0" marL="0" rtl="0" algn="l">
              <a:lnSpc>
                <a:spcPct val="100000"/>
              </a:lnSpc>
              <a:spcBef>
                <a:spcPts val="0"/>
              </a:spcBef>
              <a:spcAft>
                <a:spcPts val="0"/>
              </a:spcAft>
              <a:buSzPts val="275"/>
              <a:buNone/>
            </a:pPr>
            <a:r>
              <a:rPr lang="en" sz="6807"/>
              <a:t>Logan Castonguay</a:t>
            </a:r>
            <a:endParaRPr sz="6807"/>
          </a:p>
          <a:p>
            <a:pPr indent="0" lvl="0" marL="0" rtl="0" algn="l">
              <a:spcBef>
                <a:spcPts val="1200"/>
              </a:spcBef>
              <a:spcAft>
                <a:spcPts val="1200"/>
              </a:spcAft>
              <a:buSzPct val="84615"/>
              <a:buNone/>
            </a:pPr>
            <a:r>
              <a:t/>
            </a:r>
            <a:endParaRPr/>
          </a:p>
        </p:txBody>
      </p:sp>
      <p:sp>
        <p:nvSpPr>
          <p:cNvPr id="93" name="Google Shape;93;p14"/>
          <p:cNvSpPr txBox="1"/>
          <p:nvPr>
            <p:ph type="title"/>
          </p:nvPr>
        </p:nvSpPr>
        <p:spPr>
          <a:xfrm>
            <a:off x="876900" y="874250"/>
            <a:ext cx="4387500" cy="2632500"/>
          </a:xfrm>
          <a:prstGeom prst="rect">
            <a:avLst/>
          </a:prstGeom>
        </p:spPr>
        <p:txBody>
          <a:bodyPr anchorCtr="0" anchor="t" bIns="91425" lIns="91425" spcFirstLastPara="1" rIns="91425" wrap="square" tIns="91425">
            <a:normAutofit fontScale="90000"/>
          </a:bodyPr>
          <a:lstStyle/>
          <a:p>
            <a:pPr indent="0" lvl="0" marL="0" rtl="0" algn="l">
              <a:lnSpc>
                <a:spcPct val="80000"/>
              </a:lnSpc>
              <a:spcBef>
                <a:spcPts val="0"/>
              </a:spcBef>
              <a:spcAft>
                <a:spcPts val="0"/>
              </a:spcAft>
              <a:buSzPct val="53571"/>
              <a:buNone/>
            </a:pPr>
            <a:r>
              <a:rPr lang="en" sz="5600"/>
              <a:t>Fall </a:t>
            </a:r>
            <a:endParaRPr sz="5600"/>
          </a:p>
          <a:p>
            <a:pPr indent="0" lvl="0" marL="0" rtl="0" algn="l">
              <a:lnSpc>
                <a:spcPct val="80000"/>
              </a:lnSpc>
              <a:spcBef>
                <a:spcPts val="0"/>
              </a:spcBef>
              <a:spcAft>
                <a:spcPts val="0"/>
              </a:spcAft>
              <a:buSzPct val="53571"/>
              <a:buNone/>
            </a:pPr>
            <a:r>
              <a:rPr lang="en" sz="5600"/>
              <a:t>Design</a:t>
            </a:r>
            <a:endParaRPr sz="5600"/>
          </a:p>
          <a:p>
            <a:pPr indent="0" lvl="0" marL="0" rtl="0" algn="l">
              <a:lnSpc>
                <a:spcPct val="80000"/>
              </a:lnSpc>
              <a:spcBef>
                <a:spcPts val="0"/>
              </a:spcBef>
              <a:spcAft>
                <a:spcPts val="0"/>
              </a:spcAft>
              <a:buSzPct val="53571"/>
              <a:buNone/>
            </a:pPr>
            <a:r>
              <a:rPr lang="en" sz="5600"/>
              <a:t>Presentation</a:t>
            </a:r>
            <a:endParaRPr sz="5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Purpose and Goals</a:t>
            </a:r>
            <a:endParaRPr/>
          </a:p>
        </p:txBody>
      </p:sp>
      <p:sp>
        <p:nvSpPr>
          <p:cNvPr id="99" name="Google Shape;99;p1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900"/>
              <a:t>Purpose </a:t>
            </a:r>
            <a:r>
              <a:rPr lang="en" sz="1900"/>
              <a:t>-</a:t>
            </a:r>
            <a:r>
              <a:rPr b="1" lang="en" sz="1900"/>
              <a:t> </a:t>
            </a:r>
            <a:r>
              <a:rPr lang="en" sz="1900"/>
              <a:t>To create a tower defense-style game based on UC.</a:t>
            </a:r>
            <a:endParaRPr sz="1900"/>
          </a:p>
          <a:p>
            <a:pPr indent="0" lvl="0" marL="0" rtl="0" algn="l">
              <a:spcBef>
                <a:spcPts val="1200"/>
              </a:spcBef>
              <a:spcAft>
                <a:spcPts val="1200"/>
              </a:spcAft>
              <a:buNone/>
            </a:pPr>
            <a:r>
              <a:rPr b="1" lang="en" sz="1900"/>
              <a:t>Goals</a:t>
            </a:r>
            <a:r>
              <a:rPr lang="en" sz="1900"/>
              <a:t> - Showing a functional game at the 2026 CEAS Expo, publishing a functional game with a working leaderboard, learning more about C#, Unity, and game development.</a:t>
            </a:r>
            <a:endParaRPr sz="19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Team Members</a:t>
            </a:r>
            <a:endParaRPr/>
          </a:p>
          <a:p>
            <a:pPr indent="0" lvl="0" marL="0" rtl="0" algn="l">
              <a:spcBef>
                <a:spcPts val="0"/>
              </a:spcBef>
              <a:spcAft>
                <a:spcPts val="0"/>
              </a:spcAft>
              <a:buNone/>
            </a:pPr>
            <a:r>
              <a:t/>
            </a:r>
            <a:endParaRPr/>
          </a:p>
        </p:txBody>
      </p:sp>
      <p:sp>
        <p:nvSpPr>
          <p:cNvPr id="105" name="Google Shape;105;p1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Logan Castonguay</a:t>
            </a:r>
            <a:endParaRPr/>
          </a:p>
          <a:p>
            <a:pPr indent="0" lvl="0" marL="0" rtl="0" algn="l">
              <a:spcBef>
                <a:spcPts val="1200"/>
              </a:spcBef>
              <a:spcAft>
                <a:spcPts val="0"/>
              </a:spcAft>
              <a:buNone/>
            </a:pPr>
            <a:r>
              <a:rPr lang="en"/>
              <a:t>Computer Science</a:t>
            </a:r>
            <a:endParaRPr/>
          </a:p>
          <a:p>
            <a:pPr indent="0" lvl="0" marL="0" rtl="0" algn="l">
              <a:spcBef>
                <a:spcPts val="1200"/>
              </a:spcBef>
              <a:spcAft>
                <a:spcPts val="0"/>
              </a:spcAft>
              <a:buNone/>
            </a:pPr>
            <a:r>
              <a:rPr lang="en" u="sng">
                <a:solidFill>
                  <a:schemeClr val="hlink"/>
                </a:solidFill>
                <a:hlinkClick r:id="rId3"/>
              </a:rPr>
              <a:t>castonln@mail.uc.edu</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Advisor</a:t>
            </a:r>
            <a:endParaRPr/>
          </a:p>
        </p:txBody>
      </p:sp>
      <p:sp>
        <p:nvSpPr>
          <p:cNvPr id="111" name="Google Shape;111;p1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Hrishikesh Vinayak </a:t>
            </a:r>
            <a:r>
              <a:rPr lang="en"/>
              <a:t>Bhide</a:t>
            </a:r>
            <a:endParaRPr/>
          </a:p>
          <a:p>
            <a:pPr indent="0" lvl="0" marL="0" rtl="0" algn="l">
              <a:spcBef>
                <a:spcPts val="1200"/>
              </a:spcBef>
              <a:spcAft>
                <a:spcPts val="0"/>
              </a:spcAft>
              <a:buNone/>
            </a:pPr>
            <a:r>
              <a:rPr lang="en" u="sng">
                <a:solidFill>
                  <a:schemeClr val="hlink"/>
                </a:solidFill>
                <a:hlinkClick r:id="rId3"/>
              </a:rPr>
              <a:t>bhidehk@ucmail.uc.edu</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Abstract</a:t>
            </a:r>
            <a:endParaRPr/>
          </a:p>
        </p:txBody>
      </p:sp>
      <p:sp>
        <p:nvSpPr>
          <p:cNvPr id="117" name="Google Shape;117;p18"/>
          <p:cNvSpPr txBox="1"/>
          <p:nvPr>
            <p:ph idx="1" type="body"/>
          </p:nvPr>
        </p:nvSpPr>
        <p:spPr>
          <a:xfrm>
            <a:off x="729450" y="2078875"/>
            <a:ext cx="5133000" cy="2720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400"/>
              <a:t>Crosley Tower Defense is a tower defense game set on UC's campus. The goal is to defend the now ill-fated Crosley Tower from demolition. Players will be able to strategically place students to protect the tower from waves of Triceracopters (as found in Langsam Library) who remove the tower floor by floor. Each student will be representative of one of around 5 majors offered at UC, and have abilities depending on their field of study. The goal is to create a game that is a topical and fun way to bolster school spirit among </a:t>
            </a:r>
            <a:r>
              <a:rPr lang="en" sz="1400"/>
              <a:t>students</a:t>
            </a:r>
            <a:r>
              <a:rPr lang="en" sz="1400"/>
              <a:t>, especially incoming 2026 freshmen.</a:t>
            </a:r>
            <a:endParaRPr sz="1400"/>
          </a:p>
        </p:txBody>
      </p:sp>
      <p:pic>
        <p:nvPicPr>
          <p:cNvPr descr="Triceracopter' and 'Self-Portrait,' Cincinnati" id="118" name="Google Shape;118;p18"/>
          <p:cNvPicPr preferRelativeResize="0"/>
          <p:nvPr/>
        </p:nvPicPr>
        <p:blipFill rotWithShape="1">
          <a:blip r:embed="rId3">
            <a:alphaModFix/>
          </a:blip>
          <a:srcRect b="13270" l="36317" r="0" t="6103"/>
          <a:stretch/>
        </p:blipFill>
        <p:spPr>
          <a:xfrm>
            <a:off x="6293425" y="3076575"/>
            <a:ext cx="2045001" cy="1722400"/>
          </a:xfrm>
          <a:prstGeom prst="rect">
            <a:avLst/>
          </a:prstGeom>
          <a:noFill/>
          <a:ln>
            <a:noFill/>
          </a:ln>
        </p:spPr>
      </p:pic>
      <p:pic>
        <p:nvPicPr>
          <p:cNvPr descr="Crosley Tower, University of Cincinnati. built in a continuous concrete  pour. : r/brutalism" id="119" name="Google Shape;119;p18"/>
          <p:cNvPicPr preferRelativeResize="0"/>
          <p:nvPr/>
        </p:nvPicPr>
        <p:blipFill rotWithShape="1">
          <a:blip r:embed="rId4">
            <a:alphaModFix/>
          </a:blip>
          <a:srcRect b="0" l="35149" r="0" t="7338"/>
          <a:stretch/>
        </p:blipFill>
        <p:spPr>
          <a:xfrm>
            <a:off x="6514325" y="855175"/>
            <a:ext cx="1603200" cy="1911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User Stories</a:t>
            </a:r>
            <a:endParaRPr/>
          </a:p>
        </p:txBody>
      </p:sp>
      <p:sp>
        <p:nvSpPr>
          <p:cNvPr id="125" name="Google Shape;125;p19"/>
          <p:cNvSpPr txBox="1"/>
          <p:nvPr>
            <p:ph idx="1" type="body"/>
          </p:nvPr>
        </p:nvSpPr>
        <p:spPr>
          <a:xfrm>
            <a:off x="729450" y="2078875"/>
            <a:ext cx="7688700" cy="2717700"/>
          </a:xfrm>
          <a:prstGeom prst="rect">
            <a:avLst/>
          </a:prstGeom>
        </p:spPr>
        <p:txBody>
          <a:bodyPr anchorCtr="0" anchor="t" bIns="91425" lIns="91425" spcFirstLastPara="1" rIns="91425" wrap="square" tIns="91425">
            <a:normAutofit fontScale="85000" lnSpcReduction="20000"/>
          </a:bodyPr>
          <a:lstStyle/>
          <a:p>
            <a:pPr indent="-322078" lvl="0" marL="457200" rtl="0" algn="l">
              <a:spcBef>
                <a:spcPts val="0"/>
              </a:spcBef>
              <a:spcAft>
                <a:spcPts val="0"/>
              </a:spcAft>
              <a:buSzPct val="100000"/>
              <a:buAutoNum type="arabicPeriod"/>
            </a:pPr>
            <a:r>
              <a:rPr lang="en" sz="1731"/>
              <a:t>As a University of Cincinnati student, I want a public leaderboard and easy sharing functionality so that I may share the game with my friends.</a:t>
            </a:r>
            <a:endParaRPr sz="1731"/>
          </a:p>
          <a:p>
            <a:pPr indent="0" lvl="0" marL="0" rtl="0" algn="l">
              <a:spcBef>
                <a:spcPts val="1200"/>
              </a:spcBef>
              <a:spcAft>
                <a:spcPts val="0"/>
              </a:spcAft>
              <a:buNone/>
            </a:pPr>
            <a:r>
              <a:t/>
            </a:r>
            <a:endParaRPr sz="1731"/>
          </a:p>
          <a:p>
            <a:pPr indent="-322078" lvl="0" marL="457200" rtl="0" algn="l">
              <a:spcBef>
                <a:spcPts val="1200"/>
              </a:spcBef>
              <a:spcAft>
                <a:spcPts val="0"/>
              </a:spcAft>
              <a:buSzPct val="100000"/>
              <a:buAutoNum type="arabicPeriod"/>
            </a:pPr>
            <a:r>
              <a:rPr lang="en" sz="1731"/>
              <a:t>As an experienced gamer, I want to experience an unlimited number of waves and solve said waves with a variety of solutions so that the game I'm playing has a satisfying gameplay loop.</a:t>
            </a:r>
            <a:endParaRPr sz="1731"/>
          </a:p>
          <a:p>
            <a:pPr indent="0" lvl="0" marL="457200" rtl="0" algn="l">
              <a:spcBef>
                <a:spcPts val="1200"/>
              </a:spcBef>
              <a:spcAft>
                <a:spcPts val="0"/>
              </a:spcAft>
              <a:buNone/>
            </a:pPr>
            <a:r>
              <a:t/>
            </a:r>
            <a:endParaRPr sz="1731"/>
          </a:p>
          <a:p>
            <a:pPr indent="-322078" lvl="0" marL="457200" rtl="0" algn="l">
              <a:spcBef>
                <a:spcPts val="1200"/>
              </a:spcBef>
              <a:spcAft>
                <a:spcPts val="0"/>
              </a:spcAft>
              <a:buSzPct val="100000"/>
              <a:buAutoNum type="arabicPeriod"/>
            </a:pPr>
            <a:r>
              <a:rPr lang="en" sz="1731"/>
              <a:t>As an unexperienced gamer, I want the game's controls to be intuitive and access to playing it to be easy so that I can play without too much prior knowledge.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0"/>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Design Diagrams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21"/>
          <p:cNvPicPr preferRelativeResize="0"/>
          <p:nvPr/>
        </p:nvPicPr>
        <p:blipFill rotWithShape="1">
          <a:blip r:embed="rId3">
            <a:alphaModFix/>
          </a:blip>
          <a:srcRect b="38088" l="0" r="0" t="0"/>
          <a:stretch/>
        </p:blipFill>
        <p:spPr>
          <a:xfrm>
            <a:off x="1664475" y="209725"/>
            <a:ext cx="5994999" cy="49337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2"/>
          <p:cNvPicPr preferRelativeResize="0"/>
          <p:nvPr/>
        </p:nvPicPr>
        <p:blipFill rotWithShape="1">
          <a:blip r:embed="rId3">
            <a:alphaModFix/>
          </a:blip>
          <a:srcRect b="0" l="0" r="0" t="60629"/>
          <a:stretch/>
        </p:blipFill>
        <p:spPr>
          <a:xfrm>
            <a:off x="198763" y="283024"/>
            <a:ext cx="8746475" cy="4577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Constraints</a:t>
            </a:r>
            <a:endParaRPr/>
          </a:p>
        </p:txBody>
      </p:sp>
      <p:sp>
        <p:nvSpPr>
          <p:cNvPr id="146" name="Google Shape;146;p2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Financial</a:t>
            </a:r>
            <a:r>
              <a:rPr lang="en"/>
              <a:t> - Small budget -&gt; Using Unity with free license</a:t>
            </a:r>
            <a:endParaRPr/>
          </a:p>
          <a:p>
            <a:pPr indent="0" lvl="0" marL="0" rtl="0" algn="l">
              <a:spcBef>
                <a:spcPts val="1200"/>
              </a:spcBef>
              <a:spcAft>
                <a:spcPts val="0"/>
              </a:spcAft>
              <a:buNone/>
            </a:pPr>
            <a:r>
              <a:rPr lang="en"/>
              <a:t>Legal - Project uses UC imagery -&gt; No profiting off the work, and respectful as possible</a:t>
            </a:r>
            <a:endParaRPr/>
          </a:p>
          <a:p>
            <a:pPr indent="0" lvl="0" marL="0" rtl="0" algn="l">
              <a:spcBef>
                <a:spcPts val="1200"/>
              </a:spcBef>
              <a:spcAft>
                <a:spcPts val="1200"/>
              </a:spcAft>
              <a:buNone/>
            </a:pPr>
            <a:r>
              <a:rPr lang="en"/>
              <a:t>Cultural - Featuring student characters from UC -&gt; </a:t>
            </a:r>
            <a:r>
              <a:rPr lang="en"/>
              <a:t>Making</a:t>
            </a:r>
            <a:r>
              <a:rPr lang="en"/>
              <a:t> sure they represent an accurate slice of the student body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Progress</a:t>
            </a:r>
            <a:endParaRPr/>
          </a:p>
        </p:txBody>
      </p:sp>
      <p:sp>
        <p:nvSpPr>
          <p:cNvPr id="152" name="Google Shape;152;p2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61950" lvl="0" marL="457200" rtl="0" algn="l">
              <a:spcBef>
                <a:spcPts val="0"/>
              </a:spcBef>
              <a:spcAft>
                <a:spcPts val="0"/>
              </a:spcAft>
              <a:buSzPts val="2100"/>
              <a:buChar char="-"/>
            </a:pPr>
            <a:r>
              <a:rPr lang="en" sz="2100"/>
              <a:t>Finished Unity Pathways tutorial</a:t>
            </a:r>
            <a:endParaRPr sz="2100"/>
          </a:p>
          <a:p>
            <a:pPr indent="-361950" lvl="0" marL="457200" rtl="0" algn="l">
              <a:spcBef>
                <a:spcPts val="0"/>
              </a:spcBef>
              <a:spcAft>
                <a:spcPts val="0"/>
              </a:spcAft>
              <a:buSzPts val="2100"/>
              <a:buChar char="-"/>
            </a:pPr>
            <a:r>
              <a:rPr lang="en" sz="2100"/>
              <a:t>Working on 2D Tower Defense fundamentals</a:t>
            </a:r>
            <a:endParaRPr sz="21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Expected Accomplishments</a:t>
            </a:r>
            <a:endParaRPr/>
          </a:p>
        </p:txBody>
      </p:sp>
      <p:sp>
        <p:nvSpPr>
          <p:cNvPr id="158" name="Google Shape;158;p2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Design defense placement and upgrade UI</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Division of Work</a:t>
            </a:r>
            <a:endParaRPr/>
          </a:p>
        </p:txBody>
      </p:sp>
      <p:sp>
        <p:nvSpPr>
          <p:cNvPr id="164" name="Google Shape;164;p2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100"/>
              <a:t>Logan Castonguay - Programming, Game Design, UI Design</a:t>
            </a:r>
            <a:endParaRPr sz="2100"/>
          </a:p>
          <a:p>
            <a:pPr indent="0" lvl="0" marL="0" rtl="0" algn="l">
              <a:spcBef>
                <a:spcPts val="1200"/>
              </a:spcBef>
              <a:spcAft>
                <a:spcPts val="1200"/>
              </a:spcAft>
              <a:buNone/>
            </a:pPr>
            <a:r>
              <a:rPr lang="en" sz="2100"/>
              <a:t>Art may be contracted</a:t>
            </a:r>
            <a:endParaRPr sz="21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Expected Demo</a:t>
            </a:r>
            <a:endParaRPr/>
          </a:p>
        </p:txBody>
      </p:sp>
      <p:sp>
        <p:nvSpPr>
          <p:cNvPr id="170" name="Google Shape;170;p27"/>
          <p:cNvSpPr txBox="1"/>
          <p:nvPr>
            <p:ph idx="1" type="body"/>
          </p:nvPr>
        </p:nvSpPr>
        <p:spPr>
          <a:xfrm>
            <a:off x="729450" y="2078875"/>
            <a:ext cx="3323400" cy="22611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sz="2000"/>
              <a:t>Fully playable game with some waves designed</a:t>
            </a:r>
            <a:endParaRPr sz="2000"/>
          </a:p>
          <a:p>
            <a:pPr indent="-355600" lvl="0" marL="457200" rtl="0" algn="l">
              <a:spcBef>
                <a:spcPts val="0"/>
              </a:spcBef>
              <a:spcAft>
                <a:spcPts val="0"/>
              </a:spcAft>
              <a:buSzPts val="2000"/>
              <a:buChar char="-"/>
            </a:pPr>
            <a:r>
              <a:rPr lang="en" sz="2000"/>
              <a:t>Functional live demo of the game on a PC that people can play</a:t>
            </a:r>
            <a:endParaRPr sz="2000"/>
          </a:p>
        </p:txBody>
      </p:sp>
      <p:pic>
        <p:nvPicPr>
          <p:cNvPr id="171" name="Google Shape;171;p27"/>
          <p:cNvPicPr preferRelativeResize="0"/>
          <p:nvPr/>
        </p:nvPicPr>
        <p:blipFill>
          <a:blip r:embed="rId3">
            <a:alphaModFix/>
          </a:blip>
          <a:stretch>
            <a:fillRect/>
          </a:stretch>
        </p:blipFill>
        <p:spPr>
          <a:xfrm>
            <a:off x="4412476" y="1853851"/>
            <a:ext cx="4326426" cy="28878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